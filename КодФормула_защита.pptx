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95FF"/>
                </a:solidFill>
                <a:latin typeface="Aptos Mono"/>
              </a:rPr>
              <a:t>КОДФОРМУЛА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89611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Образовательная платформа
для спортивного программирования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8961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CE2F0"/>
                </a:solidFill>
                <a:latin typeface="Aptos"/>
              </a:rPr>
              <a:t>MVP для учеников 1–9 классов • три роли • разнотипные шаги • автоматическая и ручная проверка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709160"/>
            <a:ext cx="1234440" cy="347472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18304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Ученик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4709160"/>
            <a:ext cx="1417320" cy="347472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4718304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Куратор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4709160"/>
            <a:ext cx="1828800" cy="347472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4718304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Администратор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95FF"/>
                </a:solidFill>
                <a:latin typeface="Aptos"/>
              </a:rPr>
              <a:t>5 минут: проблема → решение → demo → архитектура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546B"/>
                </a:solidFill>
                <a:latin typeface="Aptos"/>
              </a:rPr>
              <a:t>КодФормула  •  защита MVP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457F0"/>
                </a:solidFill>
                <a:latin typeface="Aptos Mono"/>
              </a:rPr>
              <a:t>01 • 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Не просто LMS, а система сопровождения подготовки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A546B"/>
                </a:solidFill>
                <a:latin typeface="Aptos"/>
              </a:rPr>
              <a:t>Главная идея — убрать с куратора рутинную проверку и оставить ему работу, где нужен человек.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33375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331720"/>
            <a:ext cx="73152" cy="2148840"/>
          </a:xfrm>
          <a:prstGeom prst="rect">
            <a:avLst/>
          </a:prstGeom>
          <a:solidFill>
            <a:srgbClr val="345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2926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Ученик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90087"/>
            <a:ext cx="292607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546B"/>
                </a:solidFill>
                <a:latin typeface="Aptos"/>
              </a:rPr>
              <a:t>Сам проходит маршрут, видит следующий шаг, отправляет решение и получает понятный результат.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331720"/>
            <a:ext cx="33375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2331720"/>
            <a:ext cx="73152" cy="2148840"/>
          </a:xfrm>
          <a:prstGeom prst="rect">
            <a:avLst/>
          </a:prstGeom>
          <a:solidFill>
            <a:srgbClr val="F0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532888"/>
            <a:ext cx="2926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Куратор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990087"/>
            <a:ext cx="292607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546B"/>
                </a:solidFill>
                <a:latin typeface="Aptos"/>
              </a:rPr>
              <a:t>Видит очередь ручной проверки, причины возврата, вопросы и прогресс учеников.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2331720"/>
            <a:ext cx="33375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9016" y="2331720"/>
            <a:ext cx="73152" cy="2148840"/>
          </a:xfrm>
          <a:prstGeom prst="rect">
            <a:avLst/>
          </a:prstGeom>
          <a:solidFill>
            <a:srgbClr val="1E9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2532888"/>
            <a:ext cx="2926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Администратор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990087"/>
            <a:ext cx="292607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546B"/>
                </a:solidFill>
                <a:latin typeface="Aptos"/>
              </a:rPr>
              <a:t>Собирает курс из разных типов шагов, публикует и назначает участников.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8348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Три роли работают внутри одного учебного цикла.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546B"/>
                </a:solidFill>
                <a:latin typeface="Aptos"/>
              </a:rPr>
              <a:t>КодФормула  •  защита MVP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457F0"/>
                </a:solidFill>
                <a:latin typeface="Aptos Mono"/>
              </a:rPr>
              <a:t>02 • ПРОДУКТ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Курс = конструктор разнотипных шагов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A546B"/>
                </a:solidFill>
                <a:latin typeface="Aptos"/>
              </a:rPr>
              <a:t>Тип шага, форма ответа и способ проверки не склеены в одну форму.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6888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45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96596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Теория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703320"/>
            <a:ext cx="1234440" cy="347472"/>
          </a:xfrm>
          <a:prstGeom prst="roundRect">
            <a:avLst/>
          </a:prstGeom>
          <a:solidFill>
            <a:srgbClr val="EA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12463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457F0"/>
                </a:solidFill>
                <a:latin typeface="Aptos"/>
              </a:rPr>
              <a:t>read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2990088"/>
            <a:ext cx="338328" cy="0"/>
          </a:xfrm>
          <a:prstGeom prst="line">
            <a:avLst/>
          </a:prstGeom>
          <a:ln w="25400">
            <a:solidFill>
              <a:srgbClr val="345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71800" y="246888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45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514600"/>
            <a:ext cx="196596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Вопрос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3703320"/>
            <a:ext cx="1234440" cy="347472"/>
          </a:xfrm>
          <a:prstGeom prst="roundRect">
            <a:avLst/>
          </a:prstGeom>
          <a:solidFill>
            <a:srgbClr val="EA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3712463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457F0"/>
                </a:solidFill>
                <a:latin typeface="Aptos"/>
              </a:rPr>
              <a:t>auto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0" y="2990088"/>
            <a:ext cx="338328" cy="0"/>
          </a:xfrm>
          <a:prstGeom prst="line">
            <a:avLst/>
          </a:prstGeom>
          <a:ln w="25400">
            <a:solidFill>
              <a:srgbClr val="345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57800" y="246888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45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514600"/>
            <a:ext cx="196596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Python + тесты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3703320"/>
            <a:ext cx="1234440" cy="347472"/>
          </a:xfrm>
          <a:prstGeom prst="roundRect">
            <a:avLst/>
          </a:prstGeom>
          <a:solidFill>
            <a:srgbClr val="EA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3712463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457F0"/>
                </a:solidFill>
                <a:latin typeface="Aptos"/>
              </a:rPr>
              <a:t>auto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0" y="2990088"/>
            <a:ext cx="338328" cy="0"/>
          </a:xfrm>
          <a:prstGeom prst="line">
            <a:avLst/>
          </a:prstGeom>
          <a:ln w="25400">
            <a:solidFill>
              <a:srgbClr val="345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43800" y="246888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0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2514600"/>
            <a:ext cx="196596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Scratch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3703320"/>
            <a:ext cx="1234440" cy="347472"/>
          </a:xfrm>
          <a:prstGeom prst="roundRect">
            <a:avLst/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3712463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07A2A"/>
                </a:solidFill>
                <a:latin typeface="Aptos"/>
              </a:rPr>
              <a:t>manual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01200" y="2990088"/>
            <a:ext cx="338328" cy="0"/>
          </a:xfrm>
          <a:prstGeom prst="line">
            <a:avLst/>
          </a:prstGeom>
          <a:ln w="25400">
            <a:solidFill>
              <a:srgbClr val="345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29800" y="246888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0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2514600"/>
            <a:ext cx="196596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Minecraft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0" y="3703320"/>
            <a:ext cx="1234440" cy="347472"/>
          </a:xfrm>
          <a:prstGeom prst="roundRect">
            <a:avLst/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0" y="3712463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07A2A"/>
                </a:solidFill>
                <a:latin typeface="Aptos"/>
              </a:rPr>
              <a:t>manual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66344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457F0"/>
                </a:solidFill>
                <a:latin typeface="Aptos Mono"/>
              </a:rPr>
              <a:t>Архитектурный тезис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01091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tos"/>
              </a:rPr>
              <a:t>Новый тип шага должен добавляться как отдельный модуль, не переписывая модель курса и прогресса.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546B"/>
                </a:solidFill>
                <a:latin typeface="Aptos"/>
              </a:rPr>
              <a:t>КодФормула  •  защита MVP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457F0"/>
                </a:solidFill>
                <a:latin typeface="Aptos Mono"/>
              </a:rPr>
              <a:t>03 •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Один сквозной сценарий вместо набора экранов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A546B"/>
                </a:solidFill>
                <a:latin typeface="Aptos"/>
              </a:rPr>
              <a:t>Именно эту цепочку показываем вживую.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19659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345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87451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АДМИН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90672"/>
            <a:ext cx="1965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A546B"/>
                </a:solidFill>
                <a:latin typeface="Aptos"/>
              </a:rPr>
              <a:t>создаёт и публикует курс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2615184"/>
            <a:ext cx="274320" cy="0"/>
          </a:xfrm>
          <a:prstGeom prst="line">
            <a:avLst/>
          </a:prstGeom>
          <a:ln w="25400">
            <a:solidFill>
              <a:srgbClr val="345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07208" y="2240280"/>
            <a:ext cx="19659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345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2928" y="2286000"/>
            <a:ext cx="187451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УЧЕНИК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3090672"/>
            <a:ext cx="1965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A546B"/>
                </a:solidFill>
                <a:latin typeface="Aptos"/>
              </a:rPr>
              <a:t>проходит шаг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73168" y="2615184"/>
            <a:ext cx="274320" cy="0"/>
          </a:xfrm>
          <a:prstGeom prst="line">
            <a:avLst/>
          </a:prstGeom>
          <a:ln w="25400">
            <a:solidFill>
              <a:srgbClr val="345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11496" y="2240280"/>
            <a:ext cx="19659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345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2286000"/>
            <a:ext cx="187451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ПРОВЕРКА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3090672"/>
            <a:ext cx="1965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A546B"/>
                </a:solidFill>
                <a:latin typeface="Aptos"/>
              </a:rPr>
              <a:t>auto / manual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77456" y="2615184"/>
            <a:ext cx="274319" cy="0"/>
          </a:xfrm>
          <a:prstGeom prst="line">
            <a:avLst/>
          </a:prstGeom>
          <a:ln w="25400">
            <a:solidFill>
              <a:srgbClr val="345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15783" y="2240280"/>
            <a:ext cx="19659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F0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2286000"/>
            <a:ext cx="187451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КУРАТОР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15783" y="3090672"/>
            <a:ext cx="1965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A546B"/>
                </a:solidFill>
                <a:latin typeface="Aptos"/>
              </a:rPr>
              <a:t>принимает или возвращает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81744" y="2615184"/>
            <a:ext cx="274319" cy="0"/>
          </a:xfrm>
          <a:prstGeom prst="line">
            <a:avLst/>
          </a:prstGeom>
          <a:ln w="25400">
            <a:solidFill>
              <a:srgbClr val="345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20072" y="2240280"/>
            <a:ext cx="19659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1E9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65792" y="2286000"/>
            <a:ext cx="187451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ПРОГРЕСС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72" y="3090672"/>
            <a:ext cx="1965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A546B"/>
                </a:solidFill>
                <a:latin typeface="Aptos"/>
              </a:rPr>
              <a:t>обновляется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51960"/>
            <a:ext cx="10835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251960"/>
            <a:ext cx="73152" cy="1051560"/>
          </a:xfrm>
          <a:prstGeom prst="rect">
            <a:avLst/>
          </a:prstGeom>
          <a:solidFill>
            <a:srgbClr val="345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5312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Смысл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910328"/>
            <a:ext cx="10424160" cy="228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546B"/>
                </a:solidFill>
                <a:latin typeface="Aptos"/>
              </a:rPr>
              <a:t>Жюри должно увидеть не отдельные страницы, а непрерывную цепочку: создано → сдано → проверено → прогресс изменился.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546B"/>
                </a:solidFill>
                <a:latin typeface="Aptos"/>
              </a:rPr>
              <a:t>КодФормула  •  защита MVP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457F0"/>
                </a:solidFill>
                <a:latin typeface="Aptos Mono"/>
              </a:rPr>
              <a:t>04 • ПРОВЕРКА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Две модели проверки → один прогресс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A546B"/>
                </a:solidFill>
                <a:latin typeface="Aptos"/>
              </a:rPr>
              <a:t>Автоматическая и ручная проверки приводят к единой модели статусов.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52120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73152" cy="2423160"/>
          </a:xfrm>
          <a:prstGeom prst="rect">
            <a:avLst/>
          </a:prstGeom>
          <a:solidFill>
            <a:srgbClr val="345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50008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Автоматическая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07208"/>
            <a:ext cx="48006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546B"/>
                </a:solidFill>
                <a:latin typeface="Aptos"/>
              </a:rPr>
              <a:t>Код/ответ → проверка → accepted / failed → score → step_progress.
Для Python в текущем MVP используется системный timeout 2 секунды на тест.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48840"/>
            <a:ext cx="52120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148840"/>
            <a:ext cx="73152" cy="2423160"/>
          </a:xfrm>
          <a:prstGeom prst="rect">
            <a:avLst/>
          </a:prstGeom>
          <a:solidFill>
            <a:srgbClr val="F0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350008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Ручная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07208"/>
            <a:ext cx="48006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546B"/>
                </a:solidFill>
                <a:latin typeface="Aptos"/>
              </a:rPr>
              <a:t>Файл/проект → очередь куратора → accepted / returned → комментарий → step_progress.
История отправки хранится в `submissions`.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5074920"/>
            <a:ext cx="960120" cy="347472"/>
          </a:xfrm>
          <a:prstGeom prst="roundRect">
            <a:avLst/>
          </a:prstGeom>
          <a:solidFill>
            <a:srgbClr val="E8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5084064"/>
            <a:ext cx="960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E9E68"/>
                </a:solidFill>
                <a:latin typeface="Aptos"/>
              </a:rPr>
              <a:t>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5074920"/>
            <a:ext cx="960120" cy="347472"/>
          </a:xfrm>
          <a:prstGeom prst="roundRect">
            <a:avLst/>
          </a:prstGeom>
          <a:solidFill>
            <a:srgbClr val="EA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5084064"/>
            <a:ext cx="960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457F0"/>
                </a:solidFill>
                <a:latin typeface="Aptos"/>
              </a:rPr>
              <a:t>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5074920"/>
            <a:ext cx="1143000" cy="347472"/>
          </a:xfrm>
          <a:prstGeom prst="roundRect">
            <a:avLst/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5084064"/>
            <a:ext cx="1143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07A2A"/>
                </a:solidFill>
                <a:latin typeface="Aptos"/>
              </a:rPr>
              <a:t>returned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0" y="5074920"/>
            <a:ext cx="960120" cy="347472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5084064"/>
            <a:ext cx="960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C24141"/>
                </a:solidFill>
                <a:latin typeface="Aptos"/>
              </a:rPr>
              <a:t>failed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546B"/>
                </a:solidFill>
                <a:latin typeface="Aptos"/>
              </a:rPr>
              <a:t>КодФормула  •  защита MVP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457F0"/>
                </a:solidFill>
                <a:latin typeface="Aptos Mono"/>
              </a:rPr>
              <a:t>05 •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Простая серверная архитектура без лишней сложности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A546B"/>
                </a:solidFill>
                <a:latin typeface="Aptos"/>
              </a:rPr>
              <a:t>Frontend → PHP API → MySQL; права проверяются на сервере.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345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0279"/>
            <a:ext cx="22402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Browser
Student / Curator / 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965960"/>
            <a:ext cx="3017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45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2011679"/>
            <a:ext cx="292607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PHP API
Auth • Courses • Progress
Submissions • Review • Admin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194560"/>
            <a:ext cx="2651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E9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2240279"/>
            <a:ext cx="25603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MySQL
Users • Courses • Steps
Progress • Submissions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63240" y="2679192"/>
            <a:ext cx="640080" cy="0"/>
          </a:xfrm>
          <a:prstGeom prst="line">
            <a:avLst/>
          </a:prstGeom>
          <a:ln w="25400">
            <a:solidFill>
              <a:srgbClr val="345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20840" y="2679192"/>
            <a:ext cx="685800" cy="0"/>
          </a:xfrm>
          <a:prstGeom prst="line">
            <a:avLst/>
          </a:prstGeom>
          <a:ln w="25400">
            <a:solidFill>
              <a:srgbClr val="345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4160520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160520"/>
            <a:ext cx="73152" cy="1234440"/>
          </a:xfrm>
          <a:prstGeom prst="rect">
            <a:avLst/>
          </a:prstGeom>
          <a:solidFill>
            <a:srgbClr val="345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361688"/>
            <a:ext cx="26974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Модель шага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818888"/>
            <a:ext cx="26974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546B"/>
                </a:solidFill>
                <a:latin typeface="Aptos"/>
              </a:rPr>
              <a:t>content_json + validation_json + teacher_only_json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4160520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4160520"/>
            <a:ext cx="73152" cy="1234440"/>
          </a:xfrm>
          <a:prstGeom prst="rect">
            <a:avLst/>
          </a:prstGeom>
          <a:solidFill>
            <a:srgbClr val="F0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4361688"/>
            <a:ext cx="26974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Доступ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818888"/>
            <a:ext cx="26974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546B"/>
                </a:solidFill>
                <a:latin typeface="Aptos"/>
              </a:rPr>
              <a:t>require_auth() / require_any_role()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160520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4160520"/>
            <a:ext cx="73152" cy="1234440"/>
          </a:xfrm>
          <a:prstGeom prst="rect">
            <a:avLst/>
          </a:prstGeom>
          <a:solidFill>
            <a:srgbClr val="1E9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4361688"/>
            <a:ext cx="26974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История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818888"/>
            <a:ext cx="26974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546B"/>
                </a:solidFill>
                <a:latin typeface="Aptos"/>
              </a:rPr>
              <a:t>submissions + step_progress +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546B"/>
                </a:solidFill>
                <a:latin typeface="Aptos"/>
              </a:rPr>
              <a:t>КодФормула  •  защита MVP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457F0"/>
                </a:solidFill>
                <a:latin typeface="Aptos Mono"/>
              </a:rPr>
              <a:t>06 • ГОТОВНОСТЬ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Что уже есть в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A546B"/>
                </a:solidFill>
                <a:latin typeface="Aptos"/>
              </a:rPr>
              <a:t>Это слайд-подводка к живому demo, а не замена demo.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73152" cy="960120"/>
          </a:xfrm>
          <a:prstGeom prst="rect">
            <a:avLst/>
          </a:prstGeom>
          <a:solidFill>
            <a:srgbClr val="345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5000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3 роли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07208"/>
            <a:ext cx="4663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546B"/>
                </a:solidFill>
                <a:latin typeface="Aptos"/>
              </a:rPr>
              <a:t>student / curator / admin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4884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148840"/>
            <a:ext cx="73152" cy="960120"/>
          </a:xfrm>
          <a:prstGeom prst="rect">
            <a:avLst/>
          </a:prstGeom>
          <a:solidFill>
            <a:srgbClr val="345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35000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3 курса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807208"/>
            <a:ext cx="4663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546B"/>
                </a:solidFill>
                <a:latin typeface="Aptos"/>
              </a:rPr>
              <a:t>9 модулей • 30 шагов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383280"/>
            <a:ext cx="73152" cy="960120"/>
          </a:xfrm>
          <a:prstGeom prst="rect">
            <a:avLst/>
          </a:prstGeom>
          <a:solidFill>
            <a:srgbClr val="345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8444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6 типов шагов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41648"/>
            <a:ext cx="4663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546B"/>
                </a:solidFill>
                <a:latin typeface="Aptos"/>
              </a:rPr>
              <a:t>теория, вопрос, tests, Scratch, Minecraft, project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8328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383280"/>
            <a:ext cx="73152" cy="960120"/>
          </a:xfrm>
          <a:prstGeom prst="rect">
            <a:avLst/>
          </a:prstGeom>
          <a:solidFill>
            <a:srgbClr val="F0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58444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2 проверки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041648"/>
            <a:ext cx="4663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546B"/>
                </a:solidFill>
                <a:latin typeface="Aptos"/>
              </a:rPr>
              <a:t>auto + manual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1772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617720"/>
            <a:ext cx="73152" cy="960120"/>
          </a:xfrm>
          <a:prstGeom prst="rect">
            <a:avLst/>
          </a:prstGeom>
          <a:solidFill>
            <a:srgbClr val="1E9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1888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История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76088"/>
            <a:ext cx="4663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546B"/>
                </a:solidFill>
                <a:latin typeface="Aptos"/>
              </a:rPr>
              <a:t>отправки, статусы, комментарии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61772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617720"/>
            <a:ext cx="73152" cy="960120"/>
          </a:xfrm>
          <a:prstGeom prst="rect">
            <a:avLst/>
          </a:prstGeom>
          <a:solidFill>
            <a:srgbClr val="1E9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81888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Аналитика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276088"/>
            <a:ext cx="4663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546B"/>
                </a:solidFill>
                <a:latin typeface="Aptos"/>
              </a:rPr>
              <a:t>курсы, ученики, очередь, завершения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978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tos"/>
              </a:rPr>
              <a:t>Дальше — 3 минуты живого сценария.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546B"/>
                </a:solidFill>
                <a:latin typeface="Aptos"/>
              </a:rPr>
              <a:t>КодФормула  •  защита MVP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457F0"/>
                </a:solidFill>
                <a:latin typeface="Aptos Mono"/>
              </a:rPr>
              <a:t>07 • ФИНАЛ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Почему эта модель масштабируется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A546B"/>
                </a:solidFill>
                <a:latin typeface="Aptos"/>
              </a:rPr>
              <a:t>Ключ не в количестве экранов, а в разделении ответственности.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6400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Администратор меняет содержание без создания новых HTML-страниц.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Ученик получает единый учебный маршрут и понятные статусы.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Куратор работает только с теми случаями, где нужна ручная проверка.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Типы шагов расширяются отдельно от ядра курса.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148840"/>
            <a:ext cx="384048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2148840"/>
            <a:ext cx="73152" cy="2606040"/>
          </a:xfrm>
          <a:prstGeom prst="rect">
            <a:avLst/>
          </a:prstGeom>
          <a:solidFill>
            <a:srgbClr val="345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350008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Финальная фраза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807208"/>
            <a:ext cx="34290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546B"/>
                </a:solidFill>
                <a:latin typeface="Aptos"/>
              </a:rPr>
              <a:t>«Мы строили не набор кабинетов, а единый цикл обучения: курс → шаг → проверка → обратная связь → прогресс».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457F0"/>
                </a:solidFill>
                <a:latin typeface="Aptos"/>
              </a:rPr>
              <a:t>После этого — вопросы жюри.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546B"/>
                </a:solidFill>
                <a:latin typeface="Aptos"/>
              </a:rPr>
              <a:t>КодФормула  •  защита MVP  •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